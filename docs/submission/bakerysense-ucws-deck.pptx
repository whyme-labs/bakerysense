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85216"/>
            <a:ext cx="128016" cy="128016"/>
          </a:xfrm>
          <a:prstGeom prst="ellipse">
            <a:avLst/>
          </a:prstGeom>
          <a:solidFill>
            <a:srgbClr val="E0A23C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" y="493776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UCWS SINGAPORE 2026  ·  SKILLS TRACK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BakerySense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FE7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self-evolving operations harness</a:t>
            </a:r>
            <a:pPr indent="0" marL="0">
              <a:buNone/>
            </a:pPr>
            <a:r>
              <a:rPr lang="en-US" sz="2800" dirty="0">
                <a:solidFill>
                  <a:srgbClr val="E0A2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for bakeries and perishable SMEs.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429768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A8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turns sales history into tomorrow's bake plan — then learns from its own decisions, evolving a different playbook for every shop, under one-tap human approval.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bakerysense.swmengappdev.workers.dev   ·   github.com/Whyme-Labs/bakerysense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847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C847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30–40%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53949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A2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 everything an independent bakery bakes is thrown out.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6400800" y="2011680"/>
            <a:ext cx="52120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2A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waste isn't ignorance — it's uncertainty.
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5A5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Forecasts are never perfectly calibrated. Every branch behaves differently. No busy owner notices that croissants quietly run 25% high every Wednesday at one shop, and every Sunday at another. That blind spot is pure margin on the floor.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Tomorrow's bake plan, as a decision — not a chatbot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545336"/>
            <a:ext cx="7607808" cy="4800600"/>
          </a:xfrm>
          <a:prstGeom prst="roundRect">
            <a:avLst>
              <a:gd name="adj" fmla="val 1524"/>
            </a:avLst>
          </a:prstGeom>
          <a:solidFill>
            <a:srgbClr val="FFFFFF"/>
          </a:solidFill>
          <a:ln w="19050">
            <a:solidFill>
              <a:srgbClr val="E0A23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Users/sohweimeng/Documents/projects/bakerysense/docs/submission/screenshots/dashboard-bake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498080" cy="46908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21040" y="192024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2A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plans per SKU.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· Balanced · Aggressive — each with expected waste, stockout chance, and units sold, picked by newsvendor math from a quantile forecast under the shop's own cost ratio. One tap commits the call.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DIFFERENTIATOR  ·  WHY SKILLS TRACK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learns from its own decisions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2A2418"/>
          </a:solidFill>
          <a:ln w="12700">
            <a:solidFill>
              <a:srgbClr val="4A42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03120"/>
            <a:ext cx="457200" cy="457200"/>
          </a:xfrm>
          <a:prstGeom prst="ellipse">
            <a:avLst/>
          </a:prstGeom>
          <a:solidFill>
            <a:srgbClr val="E0A23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1A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2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diagnose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3246120"/>
            <a:ext cx="2148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FE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every miss. Stockout-censored, operator override, one-off event, or a genuine skill fault — only the last one is learnable.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410712" y="182880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2A2418"/>
          </a:solidFill>
          <a:ln w="12700">
            <a:solidFill>
              <a:srgbClr val="4A42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9312" y="2103120"/>
            <a:ext cx="457200" cy="457200"/>
          </a:xfrm>
          <a:prstGeom prst="ellipse">
            <a:avLst/>
          </a:prstGeom>
          <a:solidFill>
            <a:srgbClr val="E0A23C"/>
          </a:solidFill>
          <a:ln/>
        </p:spPr>
      </p:sp>
      <p:sp>
        <p:nvSpPr>
          <p:cNvPr id="11" name="Text 9"/>
          <p:cNvSpPr/>
          <p:nvPr/>
        </p:nvSpPr>
        <p:spPr>
          <a:xfrm>
            <a:off x="363931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1A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639312" y="27432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2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propose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639312" y="3246120"/>
            <a:ext cx="2148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FE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a bounded, learning-rate-capped correction to a version-controlled skill artifact (not the model).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72784" y="182880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2A2418"/>
          </a:solidFill>
          <a:ln w="12700">
            <a:solidFill>
              <a:srgbClr val="4A42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01384" y="2103120"/>
            <a:ext cx="457200" cy="457200"/>
          </a:xfrm>
          <a:prstGeom prst="ellipse">
            <a:avLst/>
          </a:prstGeom>
          <a:solidFill>
            <a:srgbClr val="E0A23C"/>
          </a:solidFill>
          <a:ln/>
        </p:spPr>
      </p:sp>
      <p:sp>
        <p:nvSpPr>
          <p:cNvPr id="16" name="Text 14"/>
          <p:cNvSpPr/>
          <p:nvPr/>
        </p:nvSpPr>
        <p:spPr>
          <a:xfrm>
            <a:off x="6501384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1A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501384" y="27432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2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validate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501384" y="3246120"/>
            <a:ext cx="2148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FE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 on a strictly held-out window. The edit must measurably cut error before anyone sees it.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134856" y="1828800"/>
            <a:ext cx="2606040" cy="3383280"/>
          </a:xfrm>
          <a:prstGeom prst="roundRect">
            <a:avLst>
              <a:gd name="adj" fmla="val 3509"/>
            </a:avLst>
          </a:prstGeom>
          <a:solidFill>
            <a:srgbClr val="2A2418"/>
          </a:solidFill>
          <a:ln w="12700">
            <a:solidFill>
              <a:srgbClr val="4A423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63456" y="2103120"/>
            <a:ext cx="457200" cy="457200"/>
          </a:xfrm>
          <a:prstGeom prst="ellipse">
            <a:avLst/>
          </a:prstGeom>
          <a:solidFill>
            <a:srgbClr val="E0A23C"/>
          </a:solidFill>
          <a:ln/>
        </p:spPr>
      </p:sp>
      <p:sp>
        <p:nvSpPr>
          <p:cNvPr id="21" name="Text 19"/>
          <p:cNvSpPr/>
          <p:nvPr/>
        </p:nvSpPr>
        <p:spPr>
          <a:xfrm>
            <a:off x="9363456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1A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9363456" y="274320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2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approve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363456" y="3246120"/>
            <a:ext cx="2148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FE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approves in one tap. Controlled autonomy — every edit is validated and auditable.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48640" y="55321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0A2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forecasting model stays frozen. The skills evolve.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SELF-INSPECTION IN ACTION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2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Corrections it taught itself, waiting for review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591056"/>
            <a:ext cx="7424928" cy="4681728"/>
          </a:xfrm>
          <a:prstGeom prst="roundRect">
            <a:avLst>
              <a:gd name="adj" fmla="val 1563"/>
            </a:avLst>
          </a:prstGeom>
          <a:solidFill>
            <a:srgbClr val="FFFFFF"/>
          </a:solidFill>
          <a:ln w="19050">
            <a:solidFill>
              <a:srgbClr val="E0A23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Users/sohweimeng/Documents/projects/bakerysense/docs/submission/screenshots/harness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31520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138160" y="1920240"/>
            <a:ext cx="35204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A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night, the harness replays its traces and proposes validated fixes.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Bukit Bintang: croissants +25% on Wednesdays.
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2F9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WAPE 3.0% → 2.0%.
</a:t>
            </a:r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A24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CROISSANT · Wed   1.00 → 0.80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WOW  ·  PER-BRANCH EVOLUTION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 brand, same model — different playbooks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E7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Bukit Bintang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05256" y="2157984"/>
            <a:ext cx="449884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9050">
            <a:solidFill>
              <a:srgbClr val="E0A23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/Users/sohweimeng/Documents/projects/bakerysense/docs/submission/screenshots/harness-card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12848"/>
            <a:ext cx="43891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4041648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CROISSANT · Wed → 0.80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4443984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Wednesdays on its own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0" y="17373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E7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Subang Jaya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757416" y="2157984"/>
            <a:ext cx="4498848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9050">
            <a:solidFill>
              <a:srgbClr val="E0A23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1" descr="/Users/sohweimeng/Documents/projects/bakerysense/docs/submission/screenshots/harness-card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212848"/>
            <a:ext cx="4389120" cy="16276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00800" y="4041648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CROISSANT · Sun → 0.80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400800" y="4443984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Sundays on its own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EFE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shop becomes its own agent with its own skill set — branch skills are sparse overrides on brand defaults. A federation of self-evolving shops.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EXECUTION OVER POLISH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41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working loop on live infrastructure — not a mockup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F9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285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24231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88036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F9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2880360" y="24231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numbers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212080" y="160020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F9E6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212080" y="24231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Cloudflare D1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93776" y="3008376"/>
            <a:ext cx="7059168" cy="3218688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9050">
            <a:solidFill>
              <a:srgbClr val="E0A23C"/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18000"/>
              </a:srgbClr>
            </a:outerShdw>
          </a:effectLst>
        </p:spPr>
      </p:sp>
      <p:pic>
        <p:nvPicPr>
          <p:cNvPr id="11" name="Image 0" descr="/Users/sohweimeng/Documents/projects/bakerysense/docs/submission/screenshots/model-line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063240"/>
            <a:ext cx="6949440" cy="31089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726680" y="3200400"/>
            <a:ext cx="39319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2A2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numbers, semantic Gemma.
</a:t>
            </a:r>
            <a:pPr indent="0" marL="0">
              <a:lnSpc>
                <a:spcPct val="122000"/>
              </a:lnSpc>
              <a:buNone/>
            </a:pPr>
            <a:r>
              <a:rPr lang="en-US" sz="1450" dirty="0">
                <a:solidFill>
                  <a:srgbClr val="5A53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Quantities come from a LightGBM quantile forecaster + newsvendor — never hallucinated. Gemma 4 is the narration and explanation layer. That split is what makes recommendations trustworthy to a real operator — and it's what gets the harness's edits past validation instead of vibes.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 SCALABILITY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41248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harness, every perishable business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A2418"/>
          </a:solidFill>
          <a:ln w="12700">
            <a:solidFill>
              <a:srgbClr val="4A42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2176272"/>
            <a:ext cx="219456" cy="219456"/>
          </a:xfrm>
          <a:prstGeom prst="ellipse">
            <a:avLst/>
          </a:prstGeom>
          <a:solidFill>
            <a:srgbClr val="E0A23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9202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7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Bakeries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206240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A2418"/>
          </a:solidFill>
          <a:ln w="12700">
            <a:solidFill>
              <a:srgbClr val="4A423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07408" y="2176272"/>
            <a:ext cx="219456" cy="219456"/>
          </a:xfrm>
          <a:prstGeom prst="ellipse">
            <a:avLst/>
          </a:prstGeom>
          <a:solidFill>
            <a:srgbClr val="E0A23C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19202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7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Cafés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863840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A2418"/>
          </a:solidFill>
          <a:ln w="12700">
            <a:solidFill>
              <a:srgbClr val="4A42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65008" y="2176272"/>
            <a:ext cx="219456" cy="219456"/>
          </a:xfrm>
          <a:prstGeom prst="ellipse">
            <a:avLst/>
          </a:prstGeom>
          <a:solidFill>
            <a:srgbClr val="E0A23C"/>
          </a:solidFill>
          <a:ln/>
        </p:spPr>
      </p:sp>
      <p:sp>
        <p:nvSpPr>
          <p:cNvPr id="12" name="Text 10"/>
          <p:cNvSpPr/>
          <p:nvPr/>
        </p:nvSpPr>
        <p:spPr>
          <a:xfrm>
            <a:off x="8458200" y="19202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7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Grocers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A2418"/>
          </a:solidFill>
          <a:ln w="12700">
            <a:solidFill>
              <a:srgbClr val="4A42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090672"/>
            <a:ext cx="219456" cy="219456"/>
          </a:xfrm>
          <a:prstGeom prst="ellipse">
            <a:avLst/>
          </a:prstGeom>
          <a:solidFill>
            <a:srgbClr val="E0A23C"/>
          </a:solidFill>
          <a:ln/>
        </p:spPr>
      </p:sp>
      <p:sp>
        <p:nvSpPr>
          <p:cNvPr id="15" name="Text 13"/>
          <p:cNvSpPr/>
          <p:nvPr/>
        </p:nvSpPr>
        <p:spPr>
          <a:xfrm>
            <a:off x="1143000" y="28346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7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Florists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206240" y="28346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A2418"/>
          </a:solidFill>
          <a:ln w="12700">
            <a:solidFill>
              <a:srgbClr val="4A423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07408" y="3090672"/>
            <a:ext cx="219456" cy="219456"/>
          </a:xfrm>
          <a:prstGeom prst="ellipse">
            <a:avLst/>
          </a:prstGeom>
          <a:solidFill>
            <a:srgbClr val="E0A23C"/>
          </a:solidFill>
          <a:ln/>
        </p:spPr>
      </p:sp>
      <p:sp>
        <p:nvSpPr>
          <p:cNvPr id="18" name="Text 16"/>
          <p:cNvSpPr/>
          <p:nvPr/>
        </p:nvSpPr>
        <p:spPr>
          <a:xfrm>
            <a:off x="4800600" y="28346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7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kitchens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7863840" y="28346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2A2418"/>
          </a:solidFill>
          <a:ln w="12700">
            <a:solidFill>
              <a:srgbClr val="4A423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65008" y="3090672"/>
            <a:ext cx="219456" cy="219456"/>
          </a:xfrm>
          <a:prstGeom prst="ellipse">
            <a:avLst/>
          </a:prstGeom>
          <a:solidFill>
            <a:srgbClr val="E0A23C"/>
          </a:solidFill>
          <a:ln/>
        </p:spPr>
      </p:sp>
      <p:sp>
        <p:nvSpPr>
          <p:cNvPr id="21" name="Text 19"/>
          <p:cNvSpPr/>
          <p:nvPr/>
        </p:nvSpPr>
        <p:spPr>
          <a:xfrm>
            <a:off x="8458200" y="2834640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E7D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Central kitchens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42062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EFE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brand→branch skill hierarchy scales to chains. Only </a:t>
            </a:r>
            <a:pPr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E0A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rule diffs</a:t>
            </a:r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EFE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propagate — not raw sales — so it preserves each shop's data privacy while sharing what works.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A827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product value · execution quality · global scalability.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STARTED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7830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it in 30 seconds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demo   </a:t>
            </a:r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EFE7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bakerysense.swmengappdev.workers.dev</a:t>
            </a:r>
            <a:pPr indent="0" marL="0">
              <a:lnSpc>
                <a:spcPct val="150000"/>
              </a:lnSpc>
              <a:buNone/>
            </a:pP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EFE7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 in    demo@bs.co  /  Password2026Password   (slug: demo)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EFE7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Money shot  Admin → Harness — two branches, two different learned fixes, awaiting approval.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E0A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       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EFE7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github.com/Whyme-Labs/bakerysense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E7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BakerySense · Whyme Labs · UCWS Singapore 2026 · Skills track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2026-05-28T11:12:12Z</dcterms:created>
  <dcterms:modified xsi:type="dcterms:W3CDTF">2026-05-28T11:12:12Z</dcterms:modified>
</cp:coreProperties>
</file>